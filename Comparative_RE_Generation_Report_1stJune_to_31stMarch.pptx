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2316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 RTC Generation Benchmark &amp; Comparative Analysis Report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Three-Way Benchmark: Old Model (Derated) vs. Improved Model (Raw 1:1 + S144) vs. Client Profile (1st June 2026 – 31st March 2027)</a:t>
            </a:r>
          </a:p>
          <a:p>
            <a:pPr>
              <a:spcBef>
                <a:spcPts val="400"/>
              </a:spcBef>
              <a:defRPr sz="950">
                <a:solidFill>
                  <a:srgbClr val="F59E0B"/>
                </a:solidFill>
              </a:defRPr>
            </a:pPr>
            <a:r>
              <a:t>Fatehgarh ISTS Hybrid RE Project | 100 MW RTC PPA with Hindalco Industries | 10-Month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B365D"/>
                </a:solidFill>
              </a:defRPr>
            </a:pPr>
            <a:r>
              <a:t>SIMULATION HORIZON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1st June 2026 to 31st March 2027</a:t>
            </a:r>
            <a:br/>
            <a:r>
              <a:t>• 10 Contract Months (304 Days)</a:t>
            </a:r>
            <a:br/>
            <a:r>
              <a:t>• 29,184 15-Minute Dispatch Blocks</a:t>
            </a:r>
            <a:br/>
            <a:r>
              <a:t>• Covers Monsoon, Winter &amp; Spring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78892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B365D"/>
                </a:solidFill>
              </a:defRPr>
            </a:pPr>
            <a:r>
              <a:t>CAPACITY BENCHMARKS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Wind: 185.85 MW (59 × 3.15 MW WTGs)</a:t>
            </a:r>
            <a:br/>
            <a:r>
              <a:t>• Solar: 175.00 MW AC Net Capacity</a:t>
            </a:r>
            <a:br/>
            <a:r>
              <a:t>• Total Hybrid RE: 360.85 MW</a:t>
            </a:r>
            <a:br/>
            <a:r>
              <a:t>• Storage: 60 MW / 360 MWh PSP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788920"/>
            <a:ext cx="329184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92608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B365D"/>
                </a:solidFill>
              </a:defRPr>
            </a:pPr>
            <a:r>
              <a:t>CLIENT BENCHMARK SOURCE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Source File: Fatehgarh ISTS - RE RTC</a:t>
            </a:r>
            <a:br/>
            <a:r>
              <a:t>• Sheet: CaseA-PSP_60-cont_cap_100-75pct</a:t>
            </a:r>
            <a:br/>
            <a:r>
              <a:t>• Solar Base: 262 MWp DC / ~175 MW AC</a:t>
            </a:r>
            <a:br/>
            <a:r>
              <a:t>• Evaluated: Generation &amp; CUF Parity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1600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62895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B365D"/>
                </a:solidFill>
              </a:defRPr>
            </a:pPr>
            <a:r>
              <a:t>EXECUTIVE SUMMARY AT A GLANCE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1. Wind Energy Restored (+70.57% / +134,064 MWh): Eliminating the 0.82x upload derate and integrating the Suzlon S144 power curve increases 10-month wind output from 189,982 MWh (14.01% CUF) to 324,046 MWh (23.90% CUF), cutting the client deficit from -63.3% to -37.4%.</a:t>
            </a:r>
            <a:br/>
            <a:r>
              <a:t>2. Solar Parity (95.06% Concordance): Solar generation yields 381,151 MWh (29.85% CUF) vs client's 400,968 MWh (31.40% CUF), with non-monsoon winter tracking within ±1% to ±4%.</a:t>
            </a:r>
            <a:br/>
            <a:r>
              <a:t>3. Total RE Output: Total hybrid RE energy reaches 705,197 MWh (26.79% CUF), substantially enhancing RTC dispatch headroom.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 RTC DISPATCH OPTIMIZER — COMPARATIVE BENCHMARK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B365D"/>
                </a:solidFill>
              </a:defRPr>
            </a:pPr>
            <a:r>
              <a:t>Executive Scorecard &amp; High-Level Generation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CONFIDENTIAL &amp; PROPRIETARY | Manikaran Power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t>Fatehgarh ISTS Hybrid RE (100 MW RTC PPA)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265176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64748B"/>
                </a:solidFill>
              </a:defRPr>
            </a:pPr>
            <a:r>
              <a:t>189,982 MWh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1B365D"/>
                </a:solidFill>
              </a:defRPr>
            </a:pPr>
            <a:r>
              <a:t>OLD MODEL WIND</a:t>
            </a:r>
          </a:p>
          <a:p>
            <a:pPr algn="ctr"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10-Mo CUF: 14.01%</a:t>
            </a:r>
            <a:br/>
            <a:r>
              <a:t>Derated (0.82x/0.96x)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051560"/>
            <a:ext cx="265176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143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563EB"/>
                </a:solidFill>
              </a:defRPr>
            </a:pPr>
            <a:r>
              <a:t>324,046 MWh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1B365D"/>
                </a:solidFill>
              </a:defRPr>
            </a:pPr>
            <a:r>
              <a:t>IMPROVED MODEL WIND</a:t>
            </a:r>
          </a:p>
          <a:p>
            <a:pPr algn="ctr"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10-Mo CUF: 23.90%</a:t>
            </a:r>
            <a:br/>
            <a:r>
              <a:t>+70.6% Gain (+134 GWh)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051560"/>
            <a:ext cx="2651760" cy="1554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143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</a:defRPr>
            </a:pPr>
            <a:r>
              <a:t>518,008 MWh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1B365D"/>
                </a:solidFill>
              </a:defRPr>
            </a:pPr>
            <a:r>
              <a:t>CLIENT REPORT WIND</a:t>
            </a:r>
          </a:p>
          <a:p>
            <a:pPr algn="ctr"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10-Mo CUF: 38.20%</a:t>
            </a:r>
            <a:br/>
            <a:r>
              <a:t>Client Fatehgarh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051560"/>
            <a:ext cx="2651760" cy="1554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143000"/>
            <a:ext cx="246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6A34A"/>
                </a:solidFill>
              </a:defRPr>
            </a:pPr>
            <a:r>
              <a:t>381,151 MWh</a:t>
            </a:r>
          </a:p>
          <a:p>
            <a:pPr algn="ctr">
              <a:spcBef>
                <a:spcPts val="200"/>
              </a:spcBef>
              <a:defRPr sz="850" b="1">
                <a:solidFill>
                  <a:srgbClr val="1B365D"/>
                </a:solidFill>
              </a:defRPr>
            </a:pPr>
            <a:r>
              <a:t>MODEL SOLAR GEN</a:t>
            </a:r>
          </a:p>
          <a:p>
            <a:pPr algn="ctr"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10-Mo CUF: 29.85%</a:t>
            </a:r>
            <a:br/>
            <a:r>
              <a:t>95.1% Parity with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440680" cy="3474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4983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1. Wind Ingestion Multiplier Removal (+134 GWh)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Wind Generation Rebound: Restoring raw un-derated wind speeds increases fleet generation from 189,982 MWh to 324,046 MWh across the 10 contract months.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Winter Wind Doubling: Winter output (Nov–Feb) jumps from ~4,000–5,500 MWh/mo to ~8,900–11,800 MWh/mo, lifting winter CUF from ~3.3% to 7.5%–9.5%.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Monsoon Capture: July wind energy reaches 91,196 MWh (65.95% CUF), accurately reflecting Western Rajasthan's intense southwest monsoon resource.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Client Gap Reduction: The net wind deficit vs client narrows substantially from -63.3% to -37.4%.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440680" cy="3474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49834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6534"/>
                </a:solidFill>
              </a:defRPr>
            </a:pPr>
            <a:r>
              <a:t>2. High-Precision Solar Alignment (95.1% Parity)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Close Convergence: Model solar (381,151 MWh) tracks client solar (400,968 MWh) within -4.94% total variance (-1.55% CUF delta).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Winter Solar Parity: Non-monsoon winter months (Dec, Jan, Feb) match within ±0.6% to ±4.2%, verifying solar PV irradiance modeling accuracy.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Diurnal Bell Curve: With clean 175 MW AC scaling, diurnal profiles rise smoothly from 06:30, peak at ~165–172 MW around 12:30, and taper off by 18:30 without artificial flat-top clipping.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Monsoon Cloud Attenuation: August and September capture realistic monsoon cloud derating.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 RTC DISPATCH OPTIMIZER — COMPARATIVE BENCHMARK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B365D"/>
                </a:solidFill>
              </a:defRPr>
            </a:pPr>
            <a:r>
              <a:t>Month-by-Month Detailed Generation &amp; Variance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CONFIDENTIAL &amp; PROPRIETARY | Manikaran Power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t>Fatehgarh ISTS Hybrid RE (100 MW RTC PPA)</a:t>
            </a:r>
          </a:p>
        </p:txBody>
      </p:sp>
      <p:pic>
        <p:nvPicPr>
          <p:cNvPr id="8" name="Picture 7" descr="chart1_monthly_total_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303520"/>
            <a:ext cx="1109441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72865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B365D"/>
                </a:solidFill>
              </a:defRPr>
            </a:pPr>
            <a:r>
              <a:t>TOTAL RE HYBRID GENERATION SUMMARY (10-MONTH TOTAL: 705.2 GWh IMPROVED vs 919.0 GWh CLIENT)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Monsoon peak months (July &amp; August) yield 132.5 GWh and 99.5 GWh total generation, exceeding client estimates by +66.9% and +6.4%.</a:t>
            </a:r>
            <a:br/>
            <a:r>
              <a:t>• Non-monsoon months (Oct to Jan) deliver ~41–48 GWh/mo, maintaining healthy baseline generation for RTC commitment.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 RTC DISPATCH OPTIMIZER — COMPARATIVE BENCHMARK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B365D"/>
                </a:solidFill>
              </a:defRPr>
            </a:pPr>
            <a:r>
              <a:t>Component Analysis: Wind &amp; Solar Resource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CONFIDENTIAL &amp; PROPRIETARY | Manikaran Power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t>Fatehgarh ISTS Hybrid RE (100 MW RTC PPA)</a:t>
            </a:r>
          </a:p>
        </p:txBody>
      </p:sp>
      <p:pic>
        <p:nvPicPr>
          <p:cNvPr id="8" name="Picture 7" descr="chart2_wind_sol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5257800"/>
            <a:ext cx="1109441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72865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B365D"/>
                </a:solidFill>
              </a:defRPr>
            </a:pPr>
            <a:r>
              <a:t>WIND &amp; SOLAR COMPONENT TAKEAWAYS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Wind (Left): Restoring raw 1:1 anemometry lifts annual wind energy to 324.0 GWh (CUF: 23.90%), narrowing the client deficit by over 134 GWh.</a:t>
            </a:r>
            <a:br/>
            <a:r>
              <a:t>• Solar (Right): 381.2 GWh model output aligns closely with client 400.9 GWh (CUF: 29.85% vs 31.40%), reflecting consistent solar resource modeling across both parties.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 RTC DISPATCH OPTIMIZER — COMPARATIVE BENCHMARK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B365D"/>
                </a:solidFill>
              </a:defRPr>
            </a:pPr>
            <a:r>
              <a:t>Seasonal Diurnal Profiles: 24-Hour Dispatch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CONFIDENTIAL &amp; PROPRIETARY | Manikaran Power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t>Fatehgarh ISTS Hybrid RE (100 MW RTC PPA)</a:t>
            </a:r>
          </a:p>
        </p:txBody>
      </p:sp>
      <p:pic>
        <p:nvPicPr>
          <p:cNvPr id="8" name="Picture 7" descr="chart4_diurnal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 RTC DISPATCH OPTIMIZER — COMPARATIVE BENCHMARK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B365D"/>
                </a:solidFill>
              </a:defRPr>
            </a:pPr>
            <a:r>
              <a:t>Technical Conclusions &amp; Strategic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CONFIDENTIAL &amp; PROPRIETARY | Manikaran Power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422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64748B"/>
                </a:solidFill>
              </a:defRPr>
            </a:pPr>
            <a:r>
              <a:t>Fatehgarh ISTS Hybrid RE (100 MW RTC PPA)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11094415" cy="1600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88719"/>
            <a:ext cx="10637215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1. Present Improved Suzlon S144 Benchmark Baseline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Share the updated 10-month generation profile reflecting +70.6% wind recovery (324 GWh) and 95.1% solar parity with client stakeholders.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Demonstrate that our model faithfully reflects the manufacturer-certified Suzlon S144 3.0/3.15 MW power curve.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94415" cy="1600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79"/>
            <a:ext cx="10637215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6534"/>
                </a:solidFill>
              </a:defRPr>
            </a:pPr>
            <a:r>
              <a:t>2. Re-Evaluate RTC Commitment &amp; PSP Storage Sizing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The additional +134 GWh of wind energy significantly increases dispatch headroom during morning and evening peak hours.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Re-run multi-day RTC optimizer to determine optimized PSP cycle efficiency and reduced nighttime auxiliary charging deficit.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79"/>
            <a:ext cx="11094415" cy="1600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37215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3. Harmonize Winter Wind Resource Assumptions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Request client's raw anemometry / mast dataset to clarify whether Fatehgarh site observations or regional macro-models were used during winter.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Verify if client's 40–55% winter wind CUF assumption is commercially bankable under P90 meteorological exceedance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